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46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BE5E54-8759-4131-BDF4-5DDCAB7A45C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025A260-FBCA-4F73-8D20-F1D0345E2BCF}">
      <dgm:prSet/>
      <dgm:spPr/>
      <dgm:t>
        <a:bodyPr/>
        <a:lstStyle/>
        <a:p>
          <a:r>
            <a:rPr lang="en-US"/>
            <a:t>Usamos o histórico diário de faturamento e da quantidade vendida da pizza big_meat_s.</a:t>
          </a:r>
        </a:p>
      </dgm:t>
    </dgm:pt>
    <dgm:pt modelId="{CD588664-AE77-492E-BD81-09D2C771B325}" type="parTrans" cxnId="{ACF9FE4B-5536-4D78-8ABE-F3ED722249FE}">
      <dgm:prSet/>
      <dgm:spPr/>
      <dgm:t>
        <a:bodyPr/>
        <a:lstStyle/>
        <a:p>
          <a:endParaRPr lang="en-US"/>
        </a:p>
      </dgm:t>
    </dgm:pt>
    <dgm:pt modelId="{10C76A77-505A-4D34-846C-DDD38606C993}" type="sibTrans" cxnId="{ACF9FE4B-5536-4D78-8ABE-F3ED722249FE}">
      <dgm:prSet/>
      <dgm:spPr/>
      <dgm:t>
        <a:bodyPr/>
        <a:lstStyle/>
        <a:p>
          <a:endParaRPr lang="en-US"/>
        </a:p>
      </dgm:t>
    </dgm:pt>
    <dgm:pt modelId="{54966A1C-38F7-48F0-AFF7-0AB440491EE1}">
      <dgm:prSet/>
      <dgm:spPr/>
      <dgm:t>
        <a:bodyPr/>
        <a:lstStyle/>
        <a:p>
          <a:r>
            <a:rPr lang="en-US"/>
            <a:t>Para cada dia simulado, sorteamos aleatoriamente um dia histórico (amostragem com reposição).</a:t>
          </a:r>
        </a:p>
      </dgm:t>
    </dgm:pt>
    <dgm:pt modelId="{92940995-573A-4457-BA99-9548B44CA6C4}" type="parTrans" cxnId="{ED50DDAA-AD32-462F-86DC-2860D8EFCA99}">
      <dgm:prSet/>
      <dgm:spPr/>
      <dgm:t>
        <a:bodyPr/>
        <a:lstStyle/>
        <a:p>
          <a:endParaRPr lang="en-US"/>
        </a:p>
      </dgm:t>
    </dgm:pt>
    <dgm:pt modelId="{6DD17006-8CC1-4E19-90C3-BB19D2ED5BF6}" type="sibTrans" cxnId="{ED50DDAA-AD32-462F-86DC-2860D8EFCA99}">
      <dgm:prSet/>
      <dgm:spPr/>
      <dgm:t>
        <a:bodyPr/>
        <a:lstStyle/>
        <a:p>
          <a:endParaRPr lang="en-US"/>
        </a:p>
      </dgm:t>
    </dgm:pt>
    <dgm:pt modelId="{02D7B3C6-9396-4E96-B0A5-F2193511E842}">
      <dgm:prSet/>
      <dgm:spPr/>
      <dgm:t>
        <a:bodyPr/>
        <a:lstStyle/>
        <a:p>
          <a:r>
            <a:rPr lang="en-US"/>
            <a:t>Separamos a receita da pizza alvo das demais pizzas.</a:t>
          </a:r>
        </a:p>
      </dgm:t>
    </dgm:pt>
    <dgm:pt modelId="{51BFACAD-A401-4CEF-A660-7BDF21CAC858}" type="parTrans" cxnId="{B7610E0C-EE4C-40C4-997D-A8E102AF8D67}">
      <dgm:prSet/>
      <dgm:spPr/>
      <dgm:t>
        <a:bodyPr/>
        <a:lstStyle/>
        <a:p>
          <a:endParaRPr lang="en-US"/>
        </a:p>
      </dgm:t>
    </dgm:pt>
    <dgm:pt modelId="{8F149690-9CD6-45E2-973F-DAC8AD1D062B}" type="sibTrans" cxnId="{B7610E0C-EE4C-40C4-997D-A8E102AF8D67}">
      <dgm:prSet/>
      <dgm:spPr/>
      <dgm:t>
        <a:bodyPr/>
        <a:lstStyle/>
        <a:p>
          <a:endParaRPr lang="en-US"/>
        </a:p>
      </dgm:t>
    </dgm:pt>
    <dgm:pt modelId="{B5C0D2D5-B006-4D33-AAB0-C81B23C6DDB9}">
      <dgm:prSet/>
      <dgm:spPr/>
      <dgm:t>
        <a:bodyPr/>
        <a:lstStyle/>
        <a:p>
          <a:r>
            <a:rPr lang="en-US"/>
            <a:t>Aplicamos um desconto na pizza alvo e modelamos o aumento de demanda via uplift ~ Normal(µ, σ).</a:t>
          </a:r>
        </a:p>
      </dgm:t>
    </dgm:pt>
    <dgm:pt modelId="{F4705FF6-E589-40D0-8521-3E2DDBAA9368}" type="parTrans" cxnId="{BD7DB2AD-DFD9-4C43-AED3-99613B9928FF}">
      <dgm:prSet/>
      <dgm:spPr/>
      <dgm:t>
        <a:bodyPr/>
        <a:lstStyle/>
        <a:p>
          <a:endParaRPr lang="en-US"/>
        </a:p>
      </dgm:t>
    </dgm:pt>
    <dgm:pt modelId="{B3CBF48A-E516-44AA-9F29-0D5948F54971}" type="sibTrans" cxnId="{BD7DB2AD-DFD9-4C43-AED3-99613B9928FF}">
      <dgm:prSet/>
      <dgm:spPr/>
      <dgm:t>
        <a:bodyPr/>
        <a:lstStyle/>
        <a:p>
          <a:endParaRPr lang="en-US"/>
        </a:p>
      </dgm:t>
    </dgm:pt>
    <dgm:pt modelId="{08B683B4-F51C-4391-8718-0DC306BBA070}">
      <dgm:prSet/>
      <dgm:spPr/>
      <dgm:t>
        <a:bodyPr/>
        <a:lstStyle/>
        <a:p>
          <a:r>
            <a:rPr lang="en-US"/>
            <a:t>Recalculamos o faturamento diário com promoção e repetimos para 30 dias e milhares de simulações.</a:t>
          </a:r>
        </a:p>
      </dgm:t>
    </dgm:pt>
    <dgm:pt modelId="{70E0A888-018F-4473-BB20-39137A372BF6}" type="parTrans" cxnId="{6B3E0B63-FA6E-47D1-862C-24ED1640B176}">
      <dgm:prSet/>
      <dgm:spPr/>
      <dgm:t>
        <a:bodyPr/>
        <a:lstStyle/>
        <a:p>
          <a:endParaRPr lang="en-US"/>
        </a:p>
      </dgm:t>
    </dgm:pt>
    <dgm:pt modelId="{63A9E970-43EE-452E-AB23-F02FFC1B37AD}" type="sibTrans" cxnId="{6B3E0B63-FA6E-47D1-862C-24ED1640B176}">
      <dgm:prSet/>
      <dgm:spPr/>
      <dgm:t>
        <a:bodyPr/>
        <a:lstStyle/>
        <a:p>
          <a:endParaRPr lang="en-US"/>
        </a:p>
      </dgm:t>
    </dgm:pt>
    <dgm:pt modelId="{0D153A1F-387A-42EB-BE8B-19E560B43630}" type="pres">
      <dgm:prSet presAssocID="{DEBE5E54-8759-4131-BDF4-5DDCAB7A45C5}" presName="vert0" presStyleCnt="0">
        <dgm:presLayoutVars>
          <dgm:dir/>
          <dgm:animOne val="branch"/>
          <dgm:animLvl val="lvl"/>
        </dgm:presLayoutVars>
      </dgm:prSet>
      <dgm:spPr/>
    </dgm:pt>
    <dgm:pt modelId="{0077D28E-B4FD-4571-B0C0-279C283DEB6E}" type="pres">
      <dgm:prSet presAssocID="{8025A260-FBCA-4F73-8D20-F1D0345E2BCF}" presName="thickLine" presStyleLbl="alignNode1" presStyleIdx="0" presStyleCnt="5"/>
      <dgm:spPr/>
    </dgm:pt>
    <dgm:pt modelId="{4A0A5FB5-485E-4CEE-B627-AAE8B4B759B7}" type="pres">
      <dgm:prSet presAssocID="{8025A260-FBCA-4F73-8D20-F1D0345E2BCF}" presName="horz1" presStyleCnt="0"/>
      <dgm:spPr/>
    </dgm:pt>
    <dgm:pt modelId="{8E4901A9-00AC-4E26-A444-EA5327ABD2D6}" type="pres">
      <dgm:prSet presAssocID="{8025A260-FBCA-4F73-8D20-F1D0345E2BCF}" presName="tx1" presStyleLbl="revTx" presStyleIdx="0" presStyleCnt="5"/>
      <dgm:spPr/>
    </dgm:pt>
    <dgm:pt modelId="{AFFCB010-DCF1-47C2-B352-4BC11C97C32C}" type="pres">
      <dgm:prSet presAssocID="{8025A260-FBCA-4F73-8D20-F1D0345E2BCF}" presName="vert1" presStyleCnt="0"/>
      <dgm:spPr/>
    </dgm:pt>
    <dgm:pt modelId="{C100DE13-D442-4D96-872C-EA9C1B3A223E}" type="pres">
      <dgm:prSet presAssocID="{54966A1C-38F7-48F0-AFF7-0AB440491EE1}" presName="thickLine" presStyleLbl="alignNode1" presStyleIdx="1" presStyleCnt="5"/>
      <dgm:spPr/>
    </dgm:pt>
    <dgm:pt modelId="{7472C22B-C326-4297-B20A-C77E9F5DDA19}" type="pres">
      <dgm:prSet presAssocID="{54966A1C-38F7-48F0-AFF7-0AB440491EE1}" presName="horz1" presStyleCnt="0"/>
      <dgm:spPr/>
    </dgm:pt>
    <dgm:pt modelId="{CE128113-C0AC-43CD-BE26-6C7F836FE51F}" type="pres">
      <dgm:prSet presAssocID="{54966A1C-38F7-48F0-AFF7-0AB440491EE1}" presName="tx1" presStyleLbl="revTx" presStyleIdx="1" presStyleCnt="5"/>
      <dgm:spPr/>
    </dgm:pt>
    <dgm:pt modelId="{CB37DF60-F23E-40BF-B195-4C13956321AC}" type="pres">
      <dgm:prSet presAssocID="{54966A1C-38F7-48F0-AFF7-0AB440491EE1}" presName="vert1" presStyleCnt="0"/>
      <dgm:spPr/>
    </dgm:pt>
    <dgm:pt modelId="{57016DE7-020C-4352-9016-5E8816BB4F35}" type="pres">
      <dgm:prSet presAssocID="{02D7B3C6-9396-4E96-B0A5-F2193511E842}" presName="thickLine" presStyleLbl="alignNode1" presStyleIdx="2" presStyleCnt="5"/>
      <dgm:spPr/>
    </dgm:pt>
    <dgm:pt modelId="{37C91EC4-69AB-43B6-8907-805A3938E581}" type="pres">
      <dgm:prSet presAssocID="{02D7B3C6-9396-4E96-B0A5-F2193511E842}" presName="horz1" presStyleCnt="0"/>
      <dgm:spPr/>
    </dgm:pt>
    <dgm:pt modelId="{73702237-873A-4235-B807-FE40A2887E58}" type="pres">
      <dgm:prSet presAssocID="{02D7B3C6-9396-4E96-B0A5-F2193511E842}" presName="tx1" presStyleLbl="revTx" presStyleIdx="2" presStyleCnt="5"/>
      <dgm:spPr/>
    </dgm:pt>
    <dgm:pt modelId="{8AB49AFA-62E3-47F4-A359-5A69CA6B0339}" type="pres">
      <dgm:prSet presAssocID="{02D7B3C6-9396-4E96-B0A5-F2193511E842}" presName="vert1" presStyleCnt="0"/>
      <dgm:spPr/>
    </dgm:pt>
    <dgm:pt modelId="{1D16C332-64F6-4DB5-A077-1BD205E28D1C}" type="pres">
      <dgm:prSet presAssocID="{B5C0D2D5-B006-4D33-AAB0-C81B23C6DDB9}" presName="thickLine" presStyleLbl="alignNode1" presStyleIdx="3" presStyleCnt="5"/>
      <dgm:spPr/>
    </dgm:pt>
    <dgm:pt modelId="{49026EAC-8140-4DD8-A2F6-95F6FB3ADDE7}" type="pres">
      <dgm:prSet presAssocID="{B5C0D2D5-B006-4D33-AAB0-C81B23C6DDB9}" presName="horz1" presStyleCnt="0"/>
      <dgm:spPr/>
    </dgm:pt>
    <dgm:pt modelId="{DAAD4B16-802B-4FF4-8AF4-570DA2441225}" type="pres">
      <dgm:prSet presAssocID="{B5C0D2D5-B006-4D33-AAB0-C81B23C6DDB9}" presName="tx1" presStyleLbl="revTx" presStyleIdx="3" presStyleCnt="5"/>
      <dgm:spPr/>
    </dgm:pt>
    <dgm:pt modelId="{54344462-A7C0-4DA5-9C81-5A8F148F7983}" type="pres">
      <dgm:prSet presAssocID="{B5C0D2D5-B006-4D33-AAB0-C81B23C6DDB9}" presName="vert1" presStyleCnt="0"/>
      <dgm:spPr/>
    </dgm:pt>
    <dgm:pt modelId="{BBE7682D-E1BA-45B2-B289-20AE402F9A07}" type="pres">
      <dgm:prSet presAssocID="{08B683B4-F51C-4391-8718-0DC306BBA070}" presName="thickLine" presStyleLbl="alignNode1" presStyleIdx="4" presStyleCnt="5"/>
      <dgm:spPr/>
    </dgm:pt>
    <dgm:pt modelId="{017999A6-4031-465C-95EF-721E1AFF6DE4}" type="pres">
      <dgm:prSet presAssocID="{08B683B4-F51C-4391-8718-0DC306BBA070}" presName="horz1" presStyleCnt="0"/>
      <dgm:spPr/>
    </dgm:pt>
    <dgm:pt modelId="{73D19713-56A7-4600-9871-96EA515017E7}" type="pres">
      <dgm:prSet presAssocID="{08B683B4-F51C-4391-8718-0DC306BBA070}" presName="tx1" presStyleLbl="revTx" presStyleIdx="4" presStyleCnt="5"/>
      <dgm:spPr/>
    </dgm:pt>
    <dgm:pt modelId="{AAAF0981-3A85-4BDA-9FB2-261DEFA30508}" type="pres">
      <dgm:prSet presAssocID="{08B683B4-F51C-4391-8718-0DC306BBA070}" presName="vert1" presStyleCnt="0"/>
      <dgm:spPr/>
    </dgm:pt>
  </dgm:ptLst>
  <dgm:cxnLst>
    <dgm:cxn modelId="{6F690503-72CB-4AD4-87F1-A307C31D712A}" type="presOf" srcId="{B5C0D2D5-B006-4D33-AAB0-C81B23C6DDB9}" destId="{DAAD4B16-802B-4FF4-8AF4-570DA2441225}" srcOrd="0" destOrd="0" presId="urn:microsoft.com/office/officeart/2008/layout/LinedList"/>
    <dgm:cxn modelId="{B7610E0C-EE4C-40C4-997D-A8E102AF8D67}" srcId="{DEBE5E54-8759-4131-BDF4-5DDCAB7A45C5}" destId="{02D7B3C6-9396-4E96-B0A5-F2193511E842}" srcOrd="2" destOrd="0" parTransId="{51BFACAD-A401-4CEF-A660-7BDF21CAC858}" sibTransId="{8F149690-9CD6-45E2-973F-DAC8AD1D062B}"/>
    <dgm:cxn modelId="{E4E5FF41-57D2-4195-B032-C9F7E24CE6E5}" type="presOf" srcId="{8025A260-FBCA-4F73-8D20-F1D0345E2BCF}" destId="{8E4901A9-00AC-4E26-A444-EA5327ABD2D6}" srcOrd="0" destOrd="0" presId="urn:microsoft.com/office/officeart/2008/layout/LinedList"/>
    <dgm:cxn modelId="{6B3E0B63-FA6E-47D1-862C-24ED1640B176}" srcId="{DEBE5E54-8759-4131-BDF4-5DDCAB7A45C5}" destId="{08B683B4-F51C-4391-8718-0DC306BBA070}" srcOrd="4" destOrd="0" parTransId="{70E0A888-018F-4473-BB20-39137A372BF6}" sibTransId="{63A9E970-43EE-452E-AB23-F02FFC1B37AD}"/>
    <dgm:cxn modelId="{6050AD43-0131-4C74-8036-5FDCE6116FD8}" type="presOf" srcId="{54966A1C-38F7-48F0-AFF7-0AB440491EE1}" destId="{CE128113-C0AC-43CD-BE26-6C7F836FE51F}" srcOrd="0" destOrd="0" presId="urn:microsoft.com/office/officeart/2008/layout/LinedList"/>
    <dgm:cxn modelId="{ACF9FE4B-5536-4D78-8ABE-F3ED722249FE}" srcId="{DEBE5E54-8759-4131-BDF4-5DDCAB7A45C5}" destId="{8025A260-FBCA-4F73-8D20-F1D0345E2BCF}" srcOrd="0" destOrd="0" parTransId="{CD588664-AE77-492E-BD81-09D2C771B325}" sibTransId="{10C76A77-505A-4D34-846C-DDD38606C993}"/>
    <dgm:cxn modelId="{51692E72-E6E7-4847-AB6E-70E6FCFFED6D}" type="presOf" srcId="{DEBE5E54-8759-4131-BDF4-5DDCAB7A45C5}" destId="{0D153A1F-387A-42EB-BE8B-19E560B43630}" srcOrd="0" destOrd="0" presId="urn:microsoft.com/office/officeart/2008/layout/LinedList"/>
    <dgm:cxn modelId="{73484D57-D5EF-4308-B012-763EE0BCA8FD}" type="presOf" srcId="{08B683B4-F51C-4391-8718-0DC306BBA070}" destId="{73D19713-56A7-4600-9871-96EA515017E7}" srcOrd="0" destOrd="0" presId="urn:microsoft.com/office/officeart/2008/layout/LinedList"/>
    <dgm:cxn modelId="{ED50DDAA-AD32-462F-86DC-2860D8EFCA99}" srcId="{DEBE5E54-8759-4131-BDF4-5DDCAB7A45C5}" destId="{54966A1C-38F7-48F0-AFF7-0AB440491EE1}" srcOrd="1" destOrd="0" parTransId="{92940995-573A-4457-BA99-9548B44CA6C4}" sibTransId="{6DD17006-8CC1-4E19-90C3-BB19D2ED5BF6}"/>
    <dgm:cxn modelId="{BD7DB2AD-DFD9-4C43-AED3-99613B9928FF}" srcId="{DEBE5E54-8759-4131-BDF4-5DDCAB7A45C5}" destId="{B5C0D2D5-B006-4D33-AAB0-C81B23C6DDB9}" srcOrd="3" destOrd="0" parTransId="{F4705FF6-E589-40D0-8521-3E2DDBAA9368}" sibTransId="{B3CBF48A-E516-44AA-9F29-0D5948F54971}"/>
    <dgm:cxn modelId="{E462B1F1-A1F5-4106-9372-FD98E454C682}" type="presOf" srcId="{02D7B3C6-9396-4E96-B0A5-F2193511E842}" destId="{73702237-873A-4235-B807-FE40A2887E58}" srcOrd="0" destOrd="0" presId="urn:microsoft.com/office/officeart/2008/layout/LinedList"/>
    <dgm:cxn modelId="{E6CEC839-D856-4634-A06A-7E1CB87750D3}" type="presParOf" srcId="{0D153A1F-387A-42EB-BE8B-19E560B43630}" destId="{0077D28E-B4FD-4571-B0C0-279C283DEB6E}" srcOrd="0" destOrd="0" presId="urn:microsoft.com/office/officeart/2008/layout/LinedList"/>
    <dgm:cxn modelId="{0558E64D-2550-4833-8BCE-039B7C3F5135}" type="presParOf" srcId="{0D153A1F-387A-42EB-BE8B-19E560B43630}" destId="{4A0A5FB5-485E-4CEE-B627-AAE8B4B759B7}" srcOrd="1" destOrd="0" presId="urn:microsoft.com/office/officeart/2008/layout/LinedList"/>
    <dgm:cxn modelId="{77B08B59-2160-42BE-B0E2-F22213E41A47}" type="presParOf" srcId="{4A0A5FB5-485E-4CEE-B627-AAE8B4B759B7}" destId="{8E4901A9-00AC-4E26-A444-EA5327ABD2D6}" srcOrd="0" destOrd="0" presId="urn:microsoft.com/office/officeart/2008/layout/LinedList"/>
    <dgm:cxn modelId="{9F266143-D3EE-4C22-91CC-7749992A1ACC}" type="presParOf" srcId="{4A0A5FB5-485E-4CEE-B627-AAE8B4B759B7}" destId="{AFFCB010-DCF1-47C2-B352-4BC11C97C32C}" srcOrd="1" destOrd="0" presId="urn:microsoft.com/office/officeart/2008/layout/LinedList"/>
    <dgm:cxn modelId="{C5E0A525-20A2-4BBF-920C-26726E056F73}" type="presParOf" srcId="{0D153A1F-387A-42EB-BE8B-19E560B43630}" destId="{C100DE13-D442-4D96-872C-EA9C1B3A223E}" srcOrd="2" destOrd="0" presId="urn:microsoft.com/office/officeart/2008/layout/LinedList"/>
    <dgm:cxn modelId="{8D557DF5-1F00-4AB0-B4A7-542DC99A1BE4}" type="presParOf" srcId="{0D153A1F-387A-42EB-BE8B-19E560B43630}" destId="{7472C22B-C326-4297-B20A-C77E9F5DDA19}" srcOrd="3" destOrd="0" presId="urn:microsoft.com/office/officeart/2008/layout/LinedList"/>
    <dgm:cxn modelId="{C25F9245-AC29-4AA3-9430-98AE0CE7FAB1}" type="presParOf" srcId="{7472C22B-C326-4297-B20A-C77E9F5DDA19}" destId="{CE128113-C0AC-43CD-BE26-6C7F836FE51F}" srcOrd="0" destOrd="0" presId="urn:microsoft.com/office/officeart/2008/layout/LinedList"/>
    <dgm:cxn modelId="{FD66EE1C-9FAE-467D-927F-9FAE6CD1BA7B}" type="presParOf" srcId="{7472C22B-C326-4297-B20A-C77E9F5DDA19}" destId="{CB37DF60-F23E-40BF-B195-4C13956321AC}" srcOrd="1" destOrd="0" presId="urn:microsoft.com/office/officeart/2008/layout/LinedList"/>
    <dgm:cxn modelId="{6584421F-39E6-4774-93EA-140A4024E153}" type="presParOf" srcId="{0D153A1F-387A-42EB-BE8B-19E560B43630}" destId="{57016DE7-020C-4352-9016-5E8816BB4F35}" srcOrd="4" destOrd="0" presId="urn:microsoft.com/office/officeart/2008/layout/LinedList"/>
    <dgm:cxn modelId="{E60C4E07-17E1-47C5-ADF7-59AA70822685}" type="presParOf" srcId="{0D153A1F-387A-42EB-BE8B-19E560B43630}" destId="{37C91EC4-69AB-43B6-8907-805A3938E581}" srcOrd="5" destOrd="0" presId="urn:microsoft.com/office/officeart/2008/layout/LinedList"/>
    <dgm:cxn modelId="{50ABD4D8-87F2-475C-8748-9C205B916EE8}" type="presParOf" srcId="{37C91EC4-69AB-43B6-8907-805A3938E581}" destId="{73702237-873A-4235-B807-FE40A2887E58}" srcOrd="0" destOrd="0" presId="urn:microsoft.com/office/officeart/2008/layout/LinedList"/>
    <dgm:cxn modelId="{9383C2CD-5C09-4199-9344-24BAC3DA326D}" type="presParOf" srcId="{37C91EC4-69AB-43B6-8907-805A3938E581}" destId="{8AB49AFA-62E3-47F4-A359-5A69CA6B0339}" srcOrd="1" destOrd="0" presId="urn:microsoft.com/office/officeart/2008/layout/LinedList"/>
    <dgm:cxn modelId="{EE7443F2-00FB-48A6-BECD-C19A05B6EB4D}" type="presParOf" srcId="{0D153A1F-387A-42EB-BE8B-19E560B43630}" destId="{1D16C332-64F6-4DB5-A077-1BD205E28D1C}" srcOrd="6" destOrd="0" presId="urn:microsoft.com/office/officeart/2008/layout/LinedList"/>
    <dgm:cxn modelId="{BDCA0DF6-E51C-47A4-B4A8-F2FFA20CC42F}" type="presParOf" srcId="{0D153A1F-387A-42EB-BE8B-19E560B43630}" destId="{49026EAC-8140-4DD8-A2F6-95F6FB3ADDE7}" srcOrd="7" destOrd="0" presId="urn:microsoft.com/office/officeart/2008/layout/LinedList"/>
    <dgm:cxn modelId="{D6CD6D28-4025-4319-9ADB-BB13E4217EDB}" type="presParOf" srcId="{49026EAC-8140-4DD8-A2F6-95F6FB3ADDE7}" destId="{DAAD4B16-802B-4FF4-8AF4-570DA2441225}" srcOrd="0" destOrd="0" presId="urn:microsoft.com/office/officeart/2008/layout/LinedList"/>
    <dgm:cxn modelId="{BAF281A5-4835-4E7B-A47C-FCD68A10CC27}" type="presParOf" srcId="{49026EAC-8140-4DD8-A2F6-95F6FB3ADDE7}" destId="{54344462-A7C0-4DA5-9C81-5A8F148F7983}" srcOrd="1" destOrd="0" presId="urn:microsoft.com/office/officeart/2008/layout/LinedList"/>
    <dgm:cxn modelId="{3CEEB091-5E70-47D8-B59B-B287ACD45E55}" type="presParOf" srcId="{0D153A1F-387A-42EB-BE8B-19E560B43630}" destId="{BBE7682D-E1BA-45B2-B289-20AE402F9A07}" srcOrd="8" destOrd="0" presId="urn:microsoft.com/office/officeart/2008/layout/LinedList"/>
    <dgm:cxn modelId="{091B7E6A-76C8-47F9-A322-CD4CD19EBC62}" type="presParOf" srcId="{0D153A1F-387A-42EB-BE8B-19E560B43630}" destId="{017999A6-4031-465C-95EF-721E1AFF6DE4}" srcOrd="9" destOrd="0" presId="urn:microsoft.com/office/officeart/2008/layout/LinedList"/>
    <dgm:cxn modelId="{639F123C-410A-4713-8955-C78BF090D35A}" type="presParOf" srcId="{017999A6-4031-465C-95EF-721E1AFF6DE4}" destId="{73D19713-56A7-4600-9871-96EA515017E7}" srcOrd="0" destOrd="0" presId="urn:microsoft.com/office/officeart/2008/layout/LinedList"/>
    <dgm:cxn modelId="{62AF955B-D5DC-4F20-9898-E32A9E46E2D1}" type="presParOf" srcId="{017999A6-4031-465C-95EF-721E1AFF6DE4}" destId="{AAAF0981-3A85-4BDA-9FB2-261DEFA305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7D28E-B4FD-4571-B0C0-279C283DEB6E}">
      <dsp:nvSpPr>
        <dsp:cNvPr id="0" name=""/>
        <dsp:cNvSpPr/>
      </dsp:nvSpPr>
      <dsp:spPr>
        <a:xfrm>
          <a:off x="0" y="478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901A9-00AC-4E26-A444-EA5327ABD2D6}">
      <dsp:nvSpPr>
        <dsp:cNvPr id="0" name=""/>
        <dsp:cNvSpPr/>
      </dsp:nvSpPr>
      <dsp:spPr>
        <a:xfrm>
          <a:off x="0" y="478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Usamos o histórico diário de faturamento e da quantidade vendida da pizza big_meat_s.</a:t>
          </a:r>
        </a:p>
      </dsp:txBody>
      <dsp:txXfrm>
        <a:off x="0" y="478"/>
        <a:ext cx="3993357" cy="783716"/>
      </dsp:txXfrm>
    </dsp:sp>
    <dsp:sp modelId="{C100DE13-D442-4D96-872C-EA9C1B3A223E}">
      <dsp:nvSpPr>
        <dsp:cNvPr id="0" name=""/>
        <dsp:cNvSpPr/>
      </dsp:nvSpPr>
      <dsp:spPr>
        <a:xfrm>
          <a:off x="0" y="78419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28113-C0AC-43CD-BE26-6C7F836FE51F}">
      <dsp:nvSpPr>
        <dsp:cNvPr id="0" name=""/>
        <dsp:cNvSpPr/>
      </dsp:nvSpPr>
      <dsp:spPr>
        <a:xfrm>
          <a:off x="0" y="784194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Para cada dia simulado, sorteamos aleatoriamente um dia histórico (amostragem com reposição).</a:t>
          </a:r>
        </a:p>
      </dsp:txBody>
      <dsp:txXfrm>
        <a:off x="0" y="784194"/>
        <a:ext cx="3993357" cy="783716"/>
      </dsp:txXfrm>
    </dsp:sp>
    <dsp:sp modelId="{57016DE7-020C-4352-9016-5E8816BB4F35}">
      <dsp:nvSpPr>
        <dsp:cNvPr id="0" name=""/>
        <dsp:cNvSpPr/>
      </dsp:nvSpPr>
      <dsp:spPr>
        <a:xfrm>
          <a:off x="0" y="156791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02237-873A-4235-B807-FE40A2887E58}">
      <dsp:nvSpPr>
        <dsp:cNvPr id="0" name=""/>
        <dsp:cNvSpPr/>
      </dsp:nvSpPr>
      <dsp:spPr>
        <a:xfrm>
          <a:off x="0" y="1567910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Separamos a receita da pizza alvo das demais pizzas.</a:t>
          </a:r>
        </a:p>
      </dsp:txBody>
      <dsp:txXfrm>
        <a:off x="0" y="1567910"/>
        <a:ext cx="3993357" cy="783716"/>
      </dsp:txXfrm>
    </dsp:sp>
    <dsp:sp modelId="{1D16C332-64F6-4DB5-A077-1BD205E28D1C}">
      <dsp:nvSpPr>
        <dsp:cNvPr id="0" name=""/>
        <dsp:cNvSpPr/>
      </dsp:nvSpPr>
      <dsp:spPr>
        <a:xfrm>
          <a:off x="0" y="2351627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D4B16-802B-4FF4-8AF4-570DA2441225}">
      <dsp:nvSpPr>
        <dsp:cNvPr id="0" name=""/>
        <dsp:cNvSpPr/>
      </dsp:nvSpPr>
      <dsp:spPr>
        <a:xfrm>
          <a:off x="0" y="2351627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Aplicamos um desconto na pizza alvo e modelamos o aumento de demanda via uplift ~ Normal(µ, σ).</a:t>
          </a:r>
        </a:p>
      </dsp:txBody>
      <dsp:txXfrm>
        <a:off x="0" y="2351627"/>
        <a:ext cx="3993357" cy="783716"/>
      </dsp:txXfrm>
    </dsp:sp>
    <dsp:sp modelId="{BBE7682D-E1BA-45B2-B289-20AE402F9A07}">
      <dsp:nvSpPr>
        <dsp:cNvPr id="0" name=""/>
        <dsp:cNvSpPr/>
      </dsp:nvSpPr>
      <dsp:spPr>
        <a:xfrm>
          <a:off x="0" y="3135343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19713-56A7-4600-9871-96EA515017E7}">
      <dsp:nvSpPr>
        <dsp:cNvPr id="0" name=""/>
        <dsp:cNvSpPr/>
      </dsp:nvSpPr>
      <dsp:spPr>
        <a:xfrm>
          <a:off x="0" y="3135343"/>
          <a:ext cx="3993357" cy="783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Recalculamos o faturamento diário com promoção e repetimos para 30 dias e milhares de simulações.</a:t>
          </a:r>
        </a:p>
      </dsp:txBody>
      <dsp:txXfrm>
        <a:off x="0" y="3135343"/>
        <a:ext cx="3993357" cy="783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élulas vistas em um microscópio">
            <a:extLst>
              <a:ext uri="{FF2B5EF4-FFF2-40B4-BE49-F238E27FC236}">
                <a16:creationId xmlns:a16="http://schemas.microsoft.com/office/drawing/2014/main" id="{6D55023F-0B13-8764-3990-D3E26FAD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" r="1" b="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1936866"/>
            <a:ext cx="3636783" cy="2839273"/>
          </a:xfrm>
        </p:spPr>
        <p:txBody>
          <a:bodyPr>
            <a:normAutofit/>
          </a:bodyPr>
          <a:lstStyle/>
          <a:p>
            <a:pPr algn="l"/>
            <a:r>
              <a:rPr lang="pt-BR" sz="3100">
                <a:solidFill>
                  <a:srgbClr val="FFFFFF"/>
                </a:solidFill>
              </a:rPr>
              <a:t>N3 - Pesquisa Operacional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4873600"/>
            <a:ext cx="3636783" cy="118360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1400">
                <a:solidFill>
                  <a:srgbClr val="FFFFFF"/>
                </a:solidFill>
              </a:rPr>
              <a:t>Análise de Promoção de Pizza com Simulação de Monte Carlo</a:t>
            </a:r>
          </a:p>
          <a:p>
            <a:pPr algn="l">
              <a:lnSpc>
                <a:spcPct val="90000"/>
              </a:lnSpc>
            </a:pPr>
            <a:endParaRPr lang="pt-BR" sz="140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pt-BR" sz="1400">
                <a:solidFill>
                  <a:srgbClr val="FFFFFF"/>
                </a:solidFill>
              </a:rPr>
              <a:t>Professor: Jaison</a:t>
            </a:r>
          </a:p>
          <a:p>
            <a:pPr algn="l">
              <a:lnSpc>
                <a:spcPct val="90000"/>
              </a:lnSpc>
            </a:pPr>
            <a:r>
              <a:rPr lang="pt-BR" sz="1400">
                <a:solidFill>
                  <a:srgbClr val="FFFFFF"/>
                </a:solidFill>
              </a:rPr>
              <a:t>Alunos: Alberto Zilio e Roni Pereira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atias de pizza">
            <a:extLst>
              <a:ext uri="{FF2B5EF4-FFF2-40B4-BE49-F238E27FC236}">
                <a16:creationId xmlns:a16="http://schemas.microsoft.com/office/drawing/2014/main" id="{3E9F96BD-F133-03A4-86D7-2E3373C462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68" r="56630" b="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/>
              <a:t>Objetivo do estudo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pt-BR" sz="1700"/>
              <a:t>Avaliar o impacto de uma promoção aplicada à pizza big_meat_s sobre o faturamento da pizzaria.</a:t>
            </a:r>
          </a:p>
          <a:p>
            <a:r>
              <a:rPr lang="pt-BR" sz="1700"/>
              <a:t>Considerar explicitamente a incerteza na demanda usando simulação de Monte Carlo.</a:t>
            </a:r>
          </a:p>
          <a:p>
            <a:r>
              <a:rPr lang="pt-BR" sz="1700"/>
              <a:t>Comparar o cenário com promoção com o cenário base (sem promoção).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zza em uma caixa">
            <a:extLst>
              <a:ext uri="{FF2B5EF4-FFF2-40B4-BE49-F238E27FC236}">
                <a16:creationId xmlns:a16="http://schemas.microsoft.com/office/drawing/2014/main" id="{35FE7A01-0A3D-8C5F-7ECD-5EDC1FD2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17" r="1018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/>
              <a:t>Dataset e preparação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700"/>
              <a:t>Fonte: um ano de vendas de uma pizzaria (pedidos e detalhes de pedidos).</a:t>
            </a:r>
          </a:p>
          <a:p>
            <a:pPr>
              <a:lnSpc>
                <a:spcPct val="90000"/>
              </a:lnSpc>
            </a:pPr>
            <a:r>
              <a:rPr lang="pt-BR" sz="1700"/>
              <a:t>Tabelas originais: orders, order_details, pizzas e pizza_types.</a:t>
            </a:r>
          </a:p>
          <a:p>
            <a:pPr>
              <a:lnSpc>
                <a:spcPct val="90000"/>
              </a:lnSpc>
            </a:pPr>
            <a:r>
              <a:rPr lang="pt-BR" sz="1700"/>
              <a:t>Criação de um dataset unificado com data, hora, pizza, quantidade, preço, tipo e categoria.</a:t>
            </a:r>
          </a:p>
          <a:p>
            <a:pPr>
              <a:lnSpc>
                <a:spcPct val="90000"/>
              </a:lnSpc>
            </a:pPr>
            <a:r>
              <a:rPr lang="pt-BR" sz="1700"/>
              <a:t>Construção da série histórica diária de faturamento total e das vendas da pizza alvo big_meat_s.</a:t>
            </a:r>
          </a:p>
          <a:p>
            <a:pPr>
              <a:lnSpc>
                <a:spcPct val="90000"/>
              </a:lnSpc>
            </a:pPr>
            <a:r>
              <a:rPr lang="pt-BR" sz="1700"/>
              <a:t>Série base exportada em: outputs/base_series.csv.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Histórico de faturamento diário e vendas da pizza alvo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13373" y="586822"/>
            <a:ext cx="4501977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Gráfico superior: faturamento diário do cenário base ao longo do ano.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Gráfico inferior: quantidade diária vendida da pizza big_meat_s.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Essas séries servem como base para o sorteio de dias na simulação de Monte Carlo.</a:t>
            </a:r>
          </a:p>
        </p:txBody>
      </p:sp>
      <p:pic>
        <p:nvPicPr>
          <p:cNvPr id="3" name="Picture 2" descr="fig_faturamento_e_pizza_al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194" y="2454439"/>
            <a:ext cx="6655278" cy="4392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pt-BR" sz="3100"/>
              <a:t>Metodologia de simulação de Monte Carlo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B14350-7953-ED94-50A8-1EE6560B8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29" r="31464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1B5F3A-71E7-1C7E-3C21-43027AF6B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318429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Distribuição do delta de faturamento (promo - base)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Histograma do delta de faturamento entre o cenário com promoção e o cenário base.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A distribuição é aproximadamente simétrica em torno de um valor médio positivo.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Mostra a variabilidade esperada do ganho de faturamento ao aplicar a promoção.</a:t>
            </a:r>
          </a:p>
        </p:txBody>
      </p:sp>
      <p:pic>
        <p:nvPicPr>
          <p:cNvPr id="3" name="Picture 2" descr="fig_delta_faturamento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02" y="2290936"/>
            <a:ext cx="6682451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700"/>
              <a:t>Análise de sensibilidade: desconto × aumento de demanda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400"/>
              <a:t>Foram avaliados cenários combinando descontos de 10%, 20% e 30%.</a:t>
            </a:r>
          </a:p>
          <a:p>
            <a:pPr>
              <a:lnSpc>
                <a:spcPct val="90000"/>
              </a:lnSpc>
            </a:pPr>
            <a:r>
              <a:rPr lang="pt-BR" sz="1400"/>
              <a:t>Para cada desconto, consideramos aumentos médios de demanda (uplift) de 10%, 30% e 50%.</a:t>
            </a:r>
          </a:p>
          <a:p>
            <a:pPr>
              <a:lnSpc>
                <a:spcPct val="90000"/>
              </a:lnSpc>
            </a:pPr>
            <a:r>
              <a:rPr lang="pt-BR" sz="1400"/>
              <a:t>Para cada cenário calculamos: faturamento médio base, faturamento médio com promoção e delta médio.</a:t>
            </a:r>
          </a:p>
          <a:p>
            <a:pPr>
              <a:lnSpc>
                <a:spcPct val="90000"/>
              </a:lnSpc>
            </a:pPr>
            <a:r>
              <a:rPr lang="pt-BR" sz="1400"/>
              <a:t>Também estimamos a probabilidade de a promoção aumentar o faturamento (prob_melhora).</a:t>
            </a:r>
          </a:p>
          <a:p>
            <a:pPr>
              <a:lnSpc>
                <a:spcPct val="90000"/>
              </a:lnSpc>
            </a:pPr>
            <a:r>
              <a:rPr lang="pt-BR" sz="1400"/>
              <a:t>Resultados completos na tabela cenarios_promocao_completo.csv.</a:t>
            </a:r>
          </a:p>
        </p:txBody>
      </p:sp>
      <p:pic>
        <p:nvPicPr>
          <p:cNvPr id="5" name="Picture 4" descr="Códigos em papéis">
            <a:extLst>
              <a:ext uri="{FF2B5EF4-FFF2-40B4-BE49-F238E27FC236}">
                <a16:creationId xmlns:a16="http://schemas.microsoft.com/office/drawing/2014/main" id="{57C612BA-ACD0-12BC-BB8F-128C5067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99" r="2675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Probabilidade de a promoção aumentar o faturamento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Heatmap relacionando o nível de desconto (eixo Y) com o uplift médio da demanda (eixo X).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Células mostram a probabilidade de o faturamento com promoção superar o cenário base.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Descontos de 10% ou 20% com uplift de 30% ou 50% apresentam probabilidade muito alta de ganho.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Com descontos de 30% e baixo uplift, o risco de perda de faturamento é elevado.</a:t>
            </a:r>
          </a:p>
        </p:txBody>
      </p:sp>
      <p:pic>
        <p:nvPicPr>
          <p:cNvPr id="3" name="Picture 2" descr="fig_heatmap_prob_melh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390245"/>
            <a:ext cx="5177790" cy="4077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Delta médio de faturamento por cenário de promoção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13373" y="586822"/>
            <a:ext cx="4501977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Eixo X: combinação de desconto / uplift médio de demanda.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Eixo Y: delta médio de faturamento (promo - base) no período simulado.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Cenários com desconto moderado (10% ou 20%) e forte aumento de demanda geram os maiores ganhos.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Cenários com desconto alto (30%) e uplift baixo produzem deltas médios negativos (perda).</a:t>
            </a:r>
          </a:p>
        </p:txBody>
      </p:sp>
      <p:pic>
        <p:nvPicPr>
          <p:cNvPr id="3" name="Picture 2" descr="fig_delta_medio_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88" y="2523800"/>
            <a:ext cx="7075023" cy="4209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pt-BR" sz="3500"/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600"/>
              <a:t>A simulação de Monte Carlo permite incorporar a variabilidade da demanda e da resposta à promoção.</a:t>
            </a:r>
          </a:p>
          <a:p>
            <a:pPr>
              <a:lnSpc>
                <a:spcPct val="90000"/>
              </a:lnSpc>
            </a:pPr>
            <a:r>
              <a:rPr lang="pt-BR" sz="1600"/>
              <a:t>Cenários com desconto moderado e aumento de demanda significativo apresentam alta probabilidade de ganho.</a:t>
            </a:r>
          </a:p>
          <a:p>
            <a:pPr>
              <a:lnSpc>
                <a:spcPct val="90000"/>
              </a:lnSpc>
            </a:pPr>
            <a:r>
              <a:rPr lang="pt-BR" sz="1600"/>
              <a:t>Descontos agressivos exigem um uplift muito alto; caso contrário, tendem a reduzir o faturamento.</a:t>
            </a:r>
          </a:p>
          <a:p>
            <a:pPr>
              <a:lnSpc>
                <a:spcPct val="90000"/>
              </a:lnSpc>
            </a:pPr>
            <a:r>
              <a:rPr lang="pt-BR" sz="1600"/>
              <a:t>O método apoia decisões de marketing e precificação baseadas em distribuições de resultados, não apenas em médias.</a:t>
            </a:r>
          </a:p>
          <a:p>
            <a:pPr>
              <a:lnSpc>
                <a:spcPct val="90000"/>
              </a:lnSpc>
            </a:pPr>
            <a:r>
              <a:rPr lang="pt-BR" sz="1600"/>
              <a:t>A abordagem pode ser estendida para outras pizzas, períodos e estruturas de promoção.</a:t>
            </a:r>
          </a:p>
        </p:txBody>
      </p:sp>
      <p:pic>
        <p:nvPicPr>
          <p:cNvPr id="5" name="Picture 4" descr="Gráficos financeiros em uma tela escura">
            <a:extLst>
              <a:ext uri="{FF2B5EF4-FFF2-40B4-BE49-F238E27FC236}">
                <a16:creationId xmlns:a16="http://schemas.microsoft.com/office/drawing/2014/main" id="{76A22810-F924-6939-F680-E01E0130D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94" r="34704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672</Words>
  <Application>Microsoft Office PowerPoint</Application>
  <PresentationFormat>Apresentação na tela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N3 - Pesquisa Operacional</vt:lpstr>
      <vt:lpstr>Objetivo do estudo</vt:lpstr>
      <vt:lpstr>Dataset e preparação</vt:lpstr>
      <vt:lpstr>Histórico de faturamento diário e vendas da pizza alvo</vt:lpstr>
      <vt:lpstr>Metodologia de simulação de Monte Carlo</vt:lpstr>
      <vt:lpstr>Distribuição do delta de faturamento (promo - base)</vt:lpstr>
      <vt:lpstr>Análise de sensibilidade: desconto × aumento de demanda</vt:lpstr>
      <vt:lpstr>Probabilidade de a promoção aumentar o faturamento</vt:lpstr>
      <vt:lpstr>Delta médio de faturamento por cenário de promoção</vt:lpstr>
      <vt:lpstr>Conclusões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ZILIO</cp:lastModifiedBy>
  <cp:revision>8</cp:revision>
  <dcterms:created xsi:type="dcterms:W3CDTF">2013-01-27T09:14:16Z</dcterms:created>
  <dcterms:modified xsi:type="dcterms:W3CDTF">2025-11-21T15:28:47Z</dcterms:modified>
  <cp:category/>
</cp:coreProperties>
</file>